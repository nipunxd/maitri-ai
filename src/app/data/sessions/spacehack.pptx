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4"/>
  </p:sldMasterIdLst>
  <p:notesMasterIdLst>
    <p:notesMasterId r:id="rId11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x="12192000" cy="6858000"/>
  <p:notesSz cx="6858000" cy="9144000"/>
  <p:embeddedFontLst>
    <p:embeddedFont>
      <p:font typeface="Garamond" panose="02020404030301010803" pitchFamily="18" charset="0"/>
      <p:regular r:id="rId12"/>
      <p:bold r:id="rId13"/>
      <p:italic r:id="rId14"/>
      <p:boldItalic r:id="rId15"/>
    </p:embeddedFont>
    <p:embeddedFont>
      <p:font typeface="Lora" pitchFamily="2" charset="0"/>
      <p:regular r:id="rId16"/>
      <p:bold r:id="rId17"/>
      <p:italic r:id="rId18"/>
      <p:boldItalic r:id="rId19"/>
    </p:embeddedFont>
    <p:embeddedFont>
      <p:font typeface="Lora SemiBold" panose="020B0604020202020204" charset="0"/>
      <p:regular r:id="rId20"/>
      <p:bold r:id="rId21"/>
      <p:italic r:id="rId22"/>
      <p:boldItalic r:id="rId23"/>
    </p:embeddedFont>
    <p:embeddedFont>
      <p:font typeface="Oswald" panose="00000500000000000000" pitchFamily="2" charset="0"/>
      <p:regular r:id="rId24"/>
      <p:bold r:id="rId25"/>
    </p:embeddedFont>
    <p:embeddedFont>
      <p:font typeface="Roboto" panose="02000000000000000000" pitchFamily="2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862A71-3985-43E4-92BF-8B65DF4DC7FF}" v="1" dt="2025-09-22T04:57:20.3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420" y="1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font" Target="fonts/font15.fntdata"/><Relationship Id="rId3" Type="http://schemas.openxmlformats.org/officeDocument/2006/relationships/customXml" Target="../customXml/item3.xml"/><Relationship Id="rId21" Type="http://schemas.openxmlformats.org/officeDocument/2006/relationships/font" Target="fonts/font10.fntdata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font" Target="fonts/font14.fntdata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openxmlformats.org/officeDocument/2006/relationships/font" Target="fonts/font18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font" Target="fonts/font17.fntdata"/><Relationship Id="rId10" Type="http://schemas.openxmlformats.org/officeDocument/2006/relationships/slide" Target="slides/slide6.xml"/><Relationship Id="rId19" Type="http://schemas.openxmlformats.org/officeDocument/2006/relationships/font" Target="fonts/font8.fntdata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font" Target="fonts/font16.fntdata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27" name="Google Shape;12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44" name="Google Shape;14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55" name="Google Shape;15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66" name="Google Shape;16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hyperlink" Target="https://pmc.ncbi.nlm.nih.gov/articles/PMC11499717/" TargetMode="External"/><Relationship Id="rId7" Type="http://schemas.openxmlformats.org/officeDocument/2006/relationships/hyperlink" Target="https://www.nasa.gov/missions/station/iss-research/mental-well-being-in-space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dlr.de/en/latest/news/2025/alone-in-space-study-investigates-the-effects-of-isolation" TargetMode="External"/><Relationship Id="rId5" Type="http://schemas.openxmlformats.org/officeDocument/2006/relationships/hyperlink" Target="https://ntrs.nasa.gov/api/citations/20000021488/downloads/20000021488.pdf" TargetMode="External"/><Relationship Id="rId4" Type="http://schemas.openxmlformats.org/officeDocument/2006/relationships/hyperlink" Target="https://ieeexplore.ieee.org/document/10397747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5656780" y="851521"/>
            <a:ext cx="4638605" cy="5154967"/>
          </a:xfrm>
          <a:custGeom>
            <a:avLst/>
            <a:gdLst/>
            <a:ahLst/>
            <a:cxnLst/>
            <a:rect l="l" t="t" r="r" b="b"/>
            <a:pathLst>
              <a:path w="6184806" h="5154967" extrusionOk="0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13"/>
          <p:cNvPicPr preferRelativeResize="0"/>
          <p:nvPr/>
        </p:nvPicPr>
        <p:blipFill rotWithShape="1">
          <a:blip r:embed="rId3">
            <a:alphaModFix/>
          </a:blip>
          <a:srcRect r="59916"/>
          <a:stretch/>
        </p:blipFill>
        <p:spPr>
          <a:xfrm>
            <a:off x="6854891" y="1715881"/>
            <a:ext cx="3203507" cy="3426237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>
            <a:spLocks noGrp="1"/>
          </p:cNvSpPr>
          <p:nvPr>
            <p:ph type="subTitle" idx="1"/>
          </p:nvPr>
        </p:nvSpPr>
        <p:spPr>
          <a:xfrm>
            <a:off x="1245686" y="851514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b="1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MAITRI </a:t>
            </a:r>
            <a:endParaRPr b="1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3"/>
          <p:cNvSpPr txBox="1">
            <a:spLocks noGrp="1"/>
          </p:cNvSpPr>
          <p:nvPr>
            <p:ph type="ctrTitle"/>
          </p:nvPr>
        </p:nvSpPr>
        <p:spPr>
          <a:xfrm>
            <a:off x="331286" y="-526757"/>
            <a:ext cx="10363200" cy="20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SMART INDIA HACKATHON 2025</a:t>
            </a:r>
            <a:endParaRPr sz="4000" b="1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0" y="2091213"/>
            <a:ext cx="9602700" cy="39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476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9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ID</a:t>
            </a:r>
            <a:r>
              <a:rPr lang="en-US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 SIH</a:t>
            </a:r>
            <a:r>
              <a:rPr lang="en-US" sz="1700" dirty="0">
                <a:solidFill>
                  <a:schemeClr val="dk1"/>
                </a:solidFill>
              </a:rPr>
              <a:t>25175</a:t>
            </a:r>
            <a:endParaRPr sz="700" dirty="0"/>
          </a:p>
          <a:p>
            <a:pPr marL="285750" marR="0" lvl="0" indent="-2476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9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Title</a:t>
            </a:r>
            <a:r>
              <a:rPr lang="en-US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1800" b="1" dirty="0">
                <a:solidFill>
                  <a:schemeClr val="dk1"/>
                </a:solidFill>
              </a:rPr>
              <a:t>–    </a:t>
            </a:r>
            <a:r>
              <a:rPr lang="en-US" sz="1700" dirty="0">
                <a:solidFill>
                  <a:schemeClr val="dk1"/>
                </a:solidFill>
              </a:rPr>
              <a:t>MAITRI : An AI Assistant for‎ ‎ ‎                                                        </a:t>
            </a:r>
            <a:endParaRPr sz="1700" dirty="0">
              <a:solidFill>
                <a:schemeClr val="dk1"/>
              </a:solidFill>
            </a:endParaRPr>
          </a:p>
          <a:p>
            <a:pPr marL="457200" marR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>
                <a:solidFill>
                  <a:schemeClr val="dk1"/>
                </a:solidFill>
              </a:rPr>
              <a:t>        Psychological &amp; Physical Well-Being of Astronauts</a:t>
            </a:r>
            <a:r>
              <a:rPr lang="en-US" sz="1800" b="1" dirty="0">
                <a:solidFill>
                  <a:schemeClr val="dk1"/>
                </a:solidFill>
              </a:rPr>
              <a:t>                      </a:t>
            </a:r>
            <a:endParaRPr sz="1800" b="1" dirty="0">
              <a:solidFill>
                <a:schemeClr val="dk1"/>
              </a:solidFill>
            </a:endParaRPr>
          </a:p>
          <a:p>
            <a:pPr marL="285750" marR="0" lvl="0" indent="-2476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9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Theme</a:t>
            </a:r>
            <a:r>
              <a:rPr lang="en-US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dirty="0">
                <a:solidFill>
                  <a:schemeClr val="dk1"/>
                </a:solidFill>
              </a:rPr>
              <a:t>–</a:t>
            </a:r>
            <a:r>
              <a:rPr lang="en-US" sz="1700" dirty="0">
                <a:solidFill>
                  <a:schemeClr val="dk1"/>
                </a:solidFill>
              </a:rPr>
              <a:t> Space Technology</a:t>
            </a:r>
            <a:endParaRPr sz="1700" dirty="0">
              <a:solidFill>
                <a:schemeClr val="dk1"/>
              </a:solidFill>
            </a:endParaRPr>
          </a:p>
          <a:p>
            <a:pPr marL="285750" marR="0" lvl="0" indent="-2476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9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PS Category</a:t>
            </a:r>
            <a:r>
              <a:rPr lang="en-US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dirty="0">
                <a:solidFill>
                  <a:schemeClr val="dk1"/>
                </a:solidFill>
              </a:rPr>
              <a:t>–</a:t>
            </a:r>
            <a:r>
              <a:rPr lang="en-US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700" dirty="0">
                <a:solidFill>
                  <a:schemeClr val="dk1"/>
                </a:solidFill>
              </a:rPr>
              <a:t>Software </a:t>
            </a:r>
            <a:endParaRPr sz="1700" dirty="0">
              <a:solidFill>
                <a:schemeClr val="dk1"/>
              </a:solidFill>
            </a:endParaRPr>
          </a:p>
          <a:p>
            <a:pPr marL="285750" marR="0" lvl="0" indent="-2476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9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ID</a:t>
            </a:r>
            <a:r>
              <a:rPr lang="en-US" sz="1800" b="1" dirty="0">
                <a:solidFill>
                  <a:schemeClr val="dk1"/>
                </a:solidFill>
              </a:rPr>
              <a:t> – </a:t>
            </a:r>
            <a:r>
              <a:rPr lang="en-US" sz="1700" dirty="0">
                <a:solidFill>
                  <a:schemeClr val="dk1"/>
                </a:solidFill>
              </a:rPr>
              <a:t>638</a:t>
            </a:r>
            <a:endParaRPr sz="700" dirty="0"/>
          </a:p>
          <a:p>
            <a:pPr marL="285750" marR="0" lvl="0" indent="-2476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9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Name </a:t>
            </a:r>
            <a:r>
              <a:rPr lang="en-US" sz="1800" b="1" dirty="0">
                <a:solidFill>
                  <a:schemeClr val="dk1"/>
                </a:solidFill>
              </a:rPr>
              <a:t>– </a:t>
            </a:r>
            <a:r>
              <a:rPr lang="en-US" sz="1700" dirty="0">
                <a:solidFill>
                  <a:schemeClr val="dk1"/>
                </a:solidFill>
              </a:rPr>
              <a:t>Space Hack</a:t>
            </a:r>
            <a:endParaRPr sz="1700" dirty="0">
              <a:solidFill>
                <a:schemeClr val="dk1"/>
              </a:solidFill>
            </a:endParaRPr>
          </a:p>
        </p:txBody>
      </p:sp>
      <p:pic>
        <p:nvPicPr>
          <p:cNvPr id="94" name="Google Shape;94;p13" descr="https://www.sih.gov.in/img1/SIH-Logo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41366" y="6297"/>
            <a:ext cx="2209120" cy="11228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4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 txBox="1">
            <a:spLocks noGrp="1"/>
          </p:cNvSpPr>
          <p:nvPr>
            <p:ph type="title"/>
          </p:nvPr>
        </p:nvSpPr>
        <p:spPr>
          <a:xfrm>
            <a:off x="213848" y="844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>
                <a:latin typeface="Times New Roman"/>
                <a:ea typeface="Times New Roman"/>
                <a:cs typeface="Times New Roman"/>
                <a:sym typeface="Times New Roman"/>
              </a:rPr>
              <a:t>MAITRI : AI for Astronauts</a:t>
            </a:r>
            <a:r>
              <a:rPr lang="en-US" sz="1400" b="1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1">
                <a:latin typeface="Arial"/>
                <a:ea typeface="Arial"/>
                <a:cs typeface="Arial"/>
                <a:sym typeface="Arial"/>
              </a:rPr>
              <a:t>    </a:t>
            </a:r>
            <a:endParaRPr sz="12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lang="en-US" sz="3000" b="1"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endParaRPr sz="3800"/>
          </a:p>
        </p:txBody>
      </p:sp>
      <p:sp>
        <p:nvSpPr>
          <p:cNvPr id="102" name="Google Shape;102;p14"/>
          <p:cNvSpPr txBox="1"/>
          <p:nvPr/>
        </p:nvSpPr>
        <p:spPr>
          <a:xfrm>
            <a:off x="-597600" y="1059550"/>
            <a:ext cx="13387200" cy="16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26035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Noto Sans Symbols"/>
              <a:buChar char="❖"/>
            </a:pPr>
            <a:r>
              <a:rPr lang="en-US" sz="1900" b="1" u="sng">
                <a:solidFill>
                  <a:schemeClr val="dk2"/>
                </a:solidFill>
              </a:rPr>
              <a:t>MAITRI : AI Assistant for for Psychological &amp; Physical‎ Well-Being of Astronauts</a:t>
            </a:r>
            <a:endParaRPr sz="1900" b="1" u="sng">
              <a:solidFill>
                <a:schemeClr val="dk2"/>
              </a:solidFill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u="sng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3300" u="sng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u="sng">
              <a:solidFill>
                <a:schemeClr val="dk2"/>
              </a:solidFill>
            </a:endParaRPr>
          </a:p>
          <a:p>
            <a:pPr marL="45720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  <a:t>2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04" name="Google Shape;104;p14" descr="Your startup LOGO"/>
          <p:cNvSpPr/>
          <p:nvPr/>
        </p:nvSpPr>
        <p:spPr>
          <a:xfrm>
            <a:off x="329773" y="252246"/>
            <a:ext cx="1251900" cy="8073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434343"/>
                </a:solidFill>
                <a:latin typeface="Lora"/>
                <a:ea typeface="Lora"/>
                <a:cs typeface="Lora"/>
                <a:sym typeface="Lora"/>
              </a:rPr>
              <a:t>Space Hack</a:t>
            </a:r>
            <a:endParaRPr sz="1700" b="1" dirty="0">
              <a:solidFill>
                <a:srgbClr val="434343"/>
              </a:solidFill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105" name="Google Shape;105;p14" descr="https://www.sih.gov.in/img1/SIH-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41366" y="57097"/>
            <a:ext cx="2209120" cy="1122868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6207850" y="1862550"/>
            <a:ext cx="3322800" cy="29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chemeClr val="dk1"/>
              </a:solidFill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327900" y="4110800"/>
            <a:ext cx="8842800" cy="12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chemeClr val="dk1"/>
              </a:solidFill>
            </a:endParaRPr>
          </a:p>
        </p:txBody>
      </p:sp>
      <p:pic>
        <p:nvPicPr>
          <p:cNvPr id="108" name="Google Shape;108;p14" title="flow1.png"/>
          <p:cNvPicPr preferRelativeResize="0"/>
          <p:nvPr/>
        </p:nvPicPr>
        <p:blipFill rotWithShape="1">
          <a:blip r:embed="rId4">
            <a:alphaModFix/>
          </a:blip>
          <a:srcRect l="15044" t="4973" r="17971" b="5581"/>
          <a:stretch/>
        </p:blipFill>
        <p:spPr>
          <a:xfrm>
            <a:off x="8588950" y="1455825"/>
            <a:ext cx="3603049" cy="48110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9" name="Google Shape;109;p14"/>
          <p:cNvGrpSpPr/>
          <p:nvPr/>
        </p:nvGrpSpPr>
        <p:grpSpPr>
          <a:xfrm>
            <a:off x="3018988" y="1573628"/>
            <a:ext cx="2725788" cy="4566908"/>
            <a:chOff x="2891469" y="1998618"/>
            <a:chExt cx="1972778" cy="1569600"/>
          </a:xfrm>
        </p:grpSpPr>
        <p:sp>
          <p:nvSpPr>
            <p:cNvPr id="110" name="Google Shape;110;p14"/>
            <p:cNvSpPr/>
            <p:nvPr/>
          </p:nvSpPr>
          <p:spPr>
            <a:xfrm rot="10800000" flipH="1">
              <a:off x="2919647" y="1998618"/>
              <a:ext cx="1944600" cy="1569600"/>
            </a:xfrm>
            <a:prstGeom prst="round2DiagRect">
              <a:avLst>
                <a:gd name="adj1" fmla="val 0"/>
                <a:gd name="adj2" fmla="val 17764"/>
              </a:avLst>
            </a:prstGeom>
            <a:solidFill>
              <a:srgbClr val="0D5CDF"/>
            </a:solidFill>
            <a:ln>
              <a:noFill/>
            </a:ln>
          </p:spPr>
          <p:txBody>
            <a:bodyPr spcFirstLastPara="1" wrap="square" lIns="162325" tIns="162325" rIns="162325" bIns="1623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97"/>
            </a:p>
          </p:txBody>
        </p:sp>
        <p:sp>
          <p:nvSpPr>
            <p:cNvPr id="111" name="Google Shape;111;p14"/>
            <p:cNvSpPr txBox="1"/>
            <p:nvPr/>
          </p:nvSpPr>
          <p:spPr>
            <a:xfrm>
              <a:off x="2933916" y="2007415"/>
              <a:ext cx="1887900" cy="43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62325" tIns="162325" rIns="162325" bIns="162325" anchor="t" anchorCtr="0">
              <a:noAutofit/>
            </a:bodyPr>
            <a:lstStyle/>
            <a:p>
              <a:pPr marL="456351" lvl="0" indent="-313742" algn="l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348"/>
                <a:buFont typeface="Roboto"/>
                <a:buChar char="➔"/>
              </a:pPr>
              <a:r>
                <a:rPr lang="en-US" sz="1347" b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Need: Multimodal AI Assistant to detect well-being from audio-video inputs.</a:t>
              </a:r>
              <a:endParaRPr sz="1347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2" name="Google Shape;112;p14"/>
            <p:cNvSpPr txBox="1"/>
            <p:nvPr/>
          </p:nvSpPr>
          <p:spPr>
            <a:xfrm>
              <a:off x="2891469" y="2325474"/>
              <a:ext cx="1944600" cy="51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62325" tIns="162325" rIns="162325" bIns="162325" anchor="t" anchorCtr="0">
              <a:noAutofit/>
            </a:bodyPr>
            <a:lstStyle/>
            <a:p>
              <a:pPr marL="456351" lvl="0" indent="-310643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99"/>
                <a:buFont typeface="Roboto"/>
                <a:buChar char="●"/>
              </a:pPr>
              <a:r>
                <a:rPr lang="en-US" sz="1298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Multimodal AI assistant for real-time emotion &amp; well-being monitoring.</a:t>
              </a:r>
              <a:endParaRPr sz="129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456351" lvl="0" indent="-310643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99"/>
                <a:buFont typeface="Roboto"/>
                <a:buChar char="●"/>
              </a:pPr>
              <a:r>
                <a:rPr lang="en-US" sz="1298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Detects emotions via voice tone &amp; facial expressions.</a:t>
              </a:r>
              <a:endParaRPr sz="129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456351" lvl="0" indent="-310643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99"/>
                <a:buFont typeface="Roboto"/>
                <a:buChar char="●"/>
              </a:pPr>
              <a:r>
                <a:rPr lang="en-US" sz="1298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Provides adaptive, supportive dialogue.</a:t>
              </a:r>
              <a:endParaRPr sz="129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456351" lvl="0" indent="-310643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99"/>
                <a:buFont typeface="Roboto"/>
                <a:buChar char="●"/>
              </a:pPr>
              <a:r>
                <a:rPr lang="en-US" sz="1298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Offline-capable: runs on-board space station systems.</a:t>
              </a:r>
              <a:endParaRPr sz="129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456351" lvl="0" indent="-310643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99"/>
                <a:buFont typeface="Roboto"/>
                <a:buChar char="●"/>
              </a:pPr>
              <a:r>
                <a:rPr lang="en-US" sz="1298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 evidence backed, short adaptive conversations and alert ground team</a:t>
              </a:r>
              <a:endParaRPr sz="129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3" name="Google Shape;113;p14"/>
          <p:cNvGrpSpPr/>
          <p:nvPr/>
        </p:nvGrpSpPr>
        <p:grpSpPr>
          <a:xfrm>
            <a:off x="231347" y="1548028"/>
            <a:ext cx="2730413" cy="4575384"/>
            <a:chOff x="1224861" y="2013875"/>
            <a:chExt cx="1944600" cy="1569600"/>
          </a:xfrm>
        </p:grpSpPr>
        <p:sp>
          <p:nvSpPr>
            <p:cNvPr id="114" name="Google Shape;114;p14"/>
            <p:cNvSpPr/>
            <p:nvPr/>
          </p:nvSpPr>
          <p:spPr>
            <a:xfrm>
              <a:off x="1224861" y="2013875"/>
              <a:ext cx="1944600" cy="1569600"/>
            </a:xfrm>
            <a:prstGeom prst="round2DiagRect">
              <a:avLst>
                <a:gd name="adj1" fmla="val 0"/>
                <a:gd name="adj2" fmla="val 17764"/>
              </a:avLst>
            </a:prstGeom>
            <a:solidFill>
              <a:srgbClr val="307AF3"/>
            </a:solidFill>
            <a:ln>
              <a:noFill/>
            </a:ln>
          </p:spPr>
          <p:txBody>
            <a:bodyPr spcFirstLastPara="1" wrap="square" lIns="128375" tIns="128375" rIns="128375" bIns="1283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4"/>
            <p:cNvSpPr txBox="1"/>
            <p:nvPr/>
          </p:nvSpPr>
          <p:spPr>
            <a:xfrm>
              <a:off x="1252007" y="2021250"/>
              <a:ext cx="1890300" cy="130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8375" tIns="128375" rIns="128375" bIns="128375" anchor="t" anchorCtr="0">
              <a:noAutofit/>
            </a:bodyPr>
            <a:lstStyle/>
            <a:p>
              <a:pPr marL="457200" lvl="0" indent="-316206" algn="l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380"/>
                <a:buFont typeface="Roboto"/>
                <a:buChar char="➔"/>
              </a:pPr>
              <a:r>
                <a:rPr lang="en-US" sz="1379" b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Problem Statement: Astronauts suffer mentally &amp; physically, compromising health and mission productivity </a:t>
              </a:r>
              <a:endParaRPr sz="1379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6" name="Google Shape;116;p14"/>
            <p:cNvSpPr txBox="1"/>
            <p:nvPr/>
          </p:nvSpPr>
          <p:spPr>
            <a:xfrm>
              <a:off x="1351625" y="2716352"/>
              <a:ext cx="1451700" cy="51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8375" tIns="128375" rIns="128375" bIns="128375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2211"/>
                </a:spcAft>
                <a:buNone/>
              </a:pPr>
              <a:endParaRPr sz="157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7" name="Google Shape;117;p14"/>
          <p:cNvGrpSpPr/>
          <p:nvPr/>
        </p:nvGrpSpPr>
        <p:grpSpPr>
          <a:xfrm>
            <a:off x="5802026" y="1573662"/>
            <a:ext cx="2876950" cy="4575384"/>
            <a:chOff x="5015938" y="2013875"/>
            <a:chExt cx="3001200" cy="1569600"/>
          </a:xfrm>
        </p:grpSpPr>
        <p:sp>
          <p:nvSpPr>
            <p:cNvPr id="118" name="Google Shape;118;p14"/>
            <p:cNvSpPr/>
            <p:nvPr/>
          </p:nvSpPr>
          <p:spPr>
            <a:xfrm>
              <a:off x="5015938" y="2013875"/>
              <a:ext cx="3001200" cy="1569600"/>
            </a:xfrm>
            <a:prstGeom prst="round2DiagRect">
              <a:avLst>
                <a:gd name="adj1" fmla="val 0"/>
                <a:gd name="adj2" fmla="val 17764"/>
              </a:avLst>
            </a:prstGeom>
            <a:solidFill>
              <a:srgbClr val="0942A1"/>
            </a:solidFill>
            <a:ln>
              <a:noFill/>
            </a:ln>
          </p:spPr>
          <p:txBody>
            <a:bodyPr spcFirstLastPara="1" wrap="square" lIns="135400" tIns="135400" rIns="135400" bIns="1354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09"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09"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09"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09"/>
            </a:p>
          </p:txBody>
        </p:sp>
        <p:sp>
          <p:nvSpPr>
            <p:cNvPr id="119" name="Google Shape;119;p14"/>
            <p:cNvSpPr txBox="1"/>
            <p:nvPr/>
          </p:nvSpPr>
          <p:spPr>
            <a:xfrm>
              <a:off x="5307989" y="2075769"/>
              <a:ext cx="2417100" cy="45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5400" tIns="135400" rIns="135400" bIns="13540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MAITRI</a:t>
              </a:r>
              <a:r>
                <a:rPr lang="en-US" sz="1265" b="1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: </a:t>
              </a:r>
              <a:r>
                <a:rPr lang="en-US" sz="1500" b="1">
                  <a:solidFill>
                    <a:schemeClr val="lt1"/>
                  </a:solidFill>
                </a:rPr>
                <a:t>AI Assistant for for Psychological &amp; Physical‎ Well-Being of Astronauts</a:t>
              </a:r>
              <a:endParaRPr sz="1500" b="1">
                <a:solidFill>
                  <a:schemeClr val="lt1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65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lt1"/>
                  </a:solidFill>
                </a:rPr>
                <a:t>A </a:t>
              </a:r>
              <a:r>
                <a:rPr lang="en-US" sz="1200" b="1">
                  <a:solidFill>
                    <a:schemeClr val="lt1"/>
                  </a:solidFill>
                </a:rPr>
                <a:t>multimodal AI assistant</a:t>
              </a:r>
              <a:r>
                <a:rPr lang="en-US" sz="1200">
                  <a:solidFill>
                    <a:schemeClr val="lt1"/>
                  </a:solidFill>
                </a:rPr>
                <a:t> that can </a:t>
              </a:r>
              <a:r>
                <a:rPr lang="en-US" sz="1200" i="1">
                  <a:solidFill>
                    <a:schemeClr val="lt1"/>
                  </a:solidFill>
                </a:rPr>
                <a:t>detect emotions</a:t>
              </a:r>
              <a:r>
                <a:rPr lang="en-US" sz="1200">
                  <a:solidFill>
                    <a:schemeClr val="lt1"/>
                  </a:solidFill>
                </a:rPr>
                <a:t> (voice + facial cues), provide </a:t>
              </a:r>
              <a:r>
                <a:rPr lang="en-US" sz="1200" b="1">
                  <a:solidFill>
                    <a:schemeClr val="lt1"/>
                  </a:solidFill>
                </a:rPr>
                <a:t>short adaptive conversations</a:t>
              </a:r>
              <a:r>
                <a:rPr lang="en-US" sz="1200">
                  <a:solidFill>
                    <a:schemeClr val="lt1"/>
                  </a:solidFill>
                </a:rPr>
                <a:t>, and </a:t>
              </a:r>
              <a:r>
                <a:rPr lang="en-US" sz="1200" b="1">
                  <a:solidFill>
                    <a:schemeClr val="lt1"/>
                  </a:solidFill>
                </a:rPr>
                <a:t>report critical issues</a:t>
              </a:r>
              <a:r>
                <a:rPr lang="en-US" sz="1200">
                  <a:solidFill>
                    <a:schemeClr val="lt1"/>
                  </a:solidFill>
                </a:rPr>
                <a:t> to ground control.</a:t>
              </a:r>
              <a:endParaRPr sz="1765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0" name="Google Shape;120;p14"/>
            <p:cNvSpPr txBox="1"/>
            <p:nvPr/>
          </p:nvSpPr>
          <p:spPr>
            <a:xfrm>
              <a:off x="5133922" y="2978477"/>
              <a:ext cx="2591100" cy="55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5400" tIns="135400" rIns="135400" bIns="135400" anchor="t" anchorCtr="0">
              <a:noAutofit/>
            </a:bodyPr>
            <a:lstStyle/>
            <a:p>
              <a:pPr marL="457200" lvl="0" indent="-29845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Char char="●"/>
              </a:pPr>
              <a:r>
                <a:rPr lang="en-US" sz="1100" b="1">
                  <a:solidFill>
                    <a:schemeClr val="lt1"/>
                  </a:solidFill>
                </a:rPr>
                <a:t>Emotion Detection</a:t>
              </a:r>
              <a:endParaRPr sz="1100" b="1">
                <a:solidFill>
                  <a:schemeClr val="lt1"/>
                </a:solidFill>
              </a:endParaRPr>
            </a:p>
            <a:p>
              <a:pPr marL="457200" lvl="0" indent="-29845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Char char="●"/>
              </a:pPr>
              <a:r>
                <a:rPr lang="en-US" sz="1100" b="1">
                  <a:solidFill>
                    <a:schemeClr val="lt1"/>
                  </a:solidFill>
                </a:rPr>
                <a:t>Conversational Support </a:t>
              </a:r>
              <a:endParaRPr sz="1100" b="1">
                <a:solidFill>
                  <a:schemeClr val="lt1"/>
                </a:solidFill>
              </a:endParaRPr>
            </a:p>
            <a:p>
              <a:pPr marL="457200" lvl="0" indent="-29845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Char char="●"/>
              </a:pPr>
              <a:r>
                <a:rPr lang="en-US" sz="1100" b="1">
                  <a:solidFill>
                    <a:schemeClr val="lt1"/>
                  </a:solidFill>
                </a:rPr>
                <a:t>Physical Well-being</a:t>
              </a:r>
              <a:endParaRPr sz="1100" b="1">
                <a:solidFill>
                  <a:schemeClr val="lt1"/>
                </a:solidFill>
              </a:endParaRPr>
            </a:p>
            <a:p>
              <a:pPr marL="457200" lvl="0" indent="-29845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Char char="●"/>
              </a:pPr>
              <a:r>
                <a:rPr lang="en-US" sz="1100" b="1">
                  <a:solidFill>
                    <a:schemeClr val="lt1"/>
                  </a:solidFill>
                </a:rPr>
                <a:t>Monitoring Critical Alerts </a:t>
              </a:r>
              <a:endParaRPr sz="1100" b="1">
                <a:solidFill>
                  <a:schemeClr val="lt1"/>
                </a:solidFill>
              </a:endParaRPr>
            </a:p>
            <a:p>
              <a:pPr marL="457200" lvl="0" indent="-2921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Char char="●"/>
              </a:pPr>
              <a:r>
                <a:rPr lang="en-US" sz="1100" b="1">
                  <a:solidFill>
                    <a:schemeClr val="lt1"/>
                  </a:solidFill>
                </a:rPr>
                <a:t>Operates offline for on-board deploymen</a:t>
              </a:r>
              <a:r>
                <a:rPr lang="en-US" sz="1000" b="1">
                  <a:solidFill>
                    <a:schemeClr val="lt1"/>
                  </a:solidFill>
                </a:rPr>
                <a:t>t</a:t>
              </a:r>
              <a:endParaRPr sz="1000" b="1">
                <a:solidFill>
                  <a:schemeClr val="lt1"/>
                </a:solidFill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2332"/>
                </a:spcBef>
                <a:spcAft>
                  <a:spcPts val="2332"/>
                </a:spcAft>
                <a:buNone/>
              </a:pPr>
              <a:endParaRPr sz="166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1" name="Google Shape;121;p14"/>
          <p:cNvGrpSpPr/>
          <p:nvPr/>
        </p:nvGrpSpPr>
        <p:grpSpPr>
          <a:xfrm>
            <a:off x="5629592" y="3562655"/>
            <a:ext cx="348750" cy="347161"/>
            <a:chOff x="4858109" y="2631368"/>
            <a:chExt cx="316442" cy="315000"/>
          </a:xfrm>
        </p:grpSpPr>
        <p:sp>
          <p:nvSpPr>
            <p:cNvPr id="122" name="Google Shape;122;p14"/>
            <p:cNvSpPr/>
            <p:nvPr/>
          </p:nvSpPr>
          <p:spPr>
            <a:xfrm>
              <a:off x="4859551" y="2631368"/>
              <a:ext cx="315000" cy="315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4"/>
            <p:cNvSpPr/>
            <p:nvPr/>
          </p:nvSpPr>
          <p:spPr>
            <a:xfrm>
              <a:off x="4858109" y="2739300"/>
              <a:ext cx="239100" cy="99000"/>
            </a:xfrm>
            <a:prstGeom prst="rightArrow">
              <a:avLst>
                <a:gd name="adj1" fmla="val 32020"/>
                <a:gd name="adj2" fmla="val 66970"/>
              </a:avLst>
            </a:prstGeom>
            <a:solidFill>
              <a:srgbClr val="0D5CD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br>
                <a:rPr lang="en-US" sz="1900"/>
              </a:br>
              <a:endParaRPr sz="1900"/>
            </a:p>
          </p:txBody>
        </p:sp>
      </p:grpSp>
      <p:sp>
        <p:nvSpPr>
          <p:cNvPr id="124" name="Google Shape;124;p14"/>
          <p:cNvSpPr txBox="1"/>
          <p:nvPr/>
        </p:nvSpPr>
        <p:spPr>
          <a:xfrm>
            <a:off x="174100" y="2639825"/>
            <a:ext cx="2844900" cy="343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n-US" sz="1300" b="1">
                <a:solidFill>
                  <a:schemeClr val="lt1"/>
                </a:solidFill>
              </a:rPr>
              <a:t>Issues faced &amp; concerns:</a:t>
            </a:r>
            <a:r>
              <a:rPr lang="en-US" sz="1300">
                <a:solidFill>
                  <a:schemeClr val="lt1"/>
                </a:solidFill>
              </a:rPr>
              <a:t> Members on-board space station face isolation, sleep disruption, tight schedules and physical discomforts which can trigger psychological &amp; physical issues.</a:t>
            </a:r>
            <a:endParaRPr sz="1300">
              <a:solidFill>
                <a:schemeClr val="lt1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n-US" sz="1300" b="1">
                <a:solidFill>
                  <a:schemeClr val="lt1"/>
                </a:solidFill>
              </a:rPr>
              <a:t>Importance early support:</a:t>
            </a:r>
            <a:r>
              <a:rPr lang="en-US" sz="1300">
                <a:solidFill>
                  <a:schemeClr val="lt1"/>
                </a:solidFill>
              </a:rPr>
              <a:t> Detecting subtle emotional and physical changes allows for early intervention, preventing minor issues from escalating into major concerns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5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5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887200" y="2903803"/>
            <a:ext cx="9385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B7B7B7"/>
              </a:solidFill>
            </a:endParaRPr>
          </a:p>
        </p:txBody>
      </p:sp>
      <p:sp>
        <p:nvSpPr>
          <p:cNvPr id="133" name="Google Shape;133;p1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  <a:t>3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34" name="Google Shape;134;p15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700" b="1">
                <a:solidFill>
                  <a:srgbClr val="434343"/>
                </a:solidFill>
                <a:latin typeface="Lora"/>
                <a:ea typeface="Lora"/>
                <a:cs typeface="Lora"/>
                <a:sym typeface="Lora"/>
              </a:rPr>
              <a:t>Space Hack</a:t>
            </a:r>
            <a:endParaRPr sz="18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135" name="Google Shape;135;p15" descr="https://www.sih.gov.in/img1/SIH-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41366" y="57097"/>
            <a:ext cx="2209120" cy="112286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6" name="Google Shape;136;p15"/>
          <p:cNvGrpSpPr/>
          <p:nvPr/>
        </p:nvGrpSpPr>
        <p:grpSpPr>
          <a:xfrm>
            <a:off x="473819" y="4571266"/>
            <a:ext cx="2901848" cy="1671593"/>
            <a:chOff x="1118308" y="2729891"/>
            <a:chExt cx="2030400" cy="1527964"/>
          </a:xfrm>
        </p:grpSpPr>
        <p:sp>
          <p:nvSpPr>
            <p:cNvPr id="137" name="Google Shape;137;p15"/>
            <p:cNvSpPr/>
            <p:nvPr/>
          </p:nvSpPr>
          <p:spPr>
            <a:xfrm rot="5400000">
              <a:off x="1938871" y="2785391"/>
              <a:ext cx="389100" cy="278100"/>
            </a:xfrm>
            <a:prstGeom prst="rightArrow">
              <a:avLst>
                <a:gd name="adj1" fmla="val 34239"/>
                <a:gd name="adj2" fmla="val 57035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09850" tIns="109850" rIns="109850" bIns="109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5"/>
            <p:cNvSpPr/>
            <p:nvPr/>
          </p:nvSpPr>
          <p:spPr>
            <a:xfrm>
              <a:off x="1118308" y="3172455"/>
              <a:ext cx="2030400" cy="108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9850" tIns="109850" rIns="109850" bIns="109850" anchor="t" anchorCtr="0">
              <a:noAutofit/>
            </a:bodyPr>
            <a:lstStyle/>
            <a:p>
              <a:pPr marL="549369" lvl="0" indent="-337633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91"/>
                <a:buFont typeface="Roboto"/>
                <a:buChar char="●"/>
              </a:pPr>
              <a:endParaRPr sz="99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39" name="Google Shape;139;p15"/>
          <p:cNvSpPr/>
          <p:nvPr/>
        </p:nvSpPr>
        <p:spPr>
          <a:xfrm>
            <a:off x="849549" y="1048359"/>
            <a:ext cx="10231405" cy="5194500"/>
          </a:xfrm>
          <a:prstGeom prst="round2DiagRect">
            <a:avLst>
              <a:gd name="adj1" fmla="val 0"/>
              <a:gd name="adj2" fmla="val 17764"/>
            </a:avLst>
          </a:prstGeom>
          <a:solidFill>
            <a:srgbClr val="249C9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836050" y="1095363"/>
            <a:ext cx="2354700" cy="12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300"/>
              <a:buFont typeface="Lora SemiBold"/>
              <a:buChar char="➔"/>
            </a:pPr>
            <a:r>
              <a:rPr lang="en-US" sz="2300">
                <a:solidFill>
                  <a:srgbClr val="F3F3F3"/>
                </a:solidFill>
                <a:latin typeface="Lora SemiBold"/>
                <a:ea typeface="Lora SemiBold"/>
                <a:cs typeface="Lora SemiBold"/>
                <a:sym typeface="Lora SemiBold"/>
              </a:rPr>
              <a:t>Tech Stack</a:t>
            </a:r>
            <a:endParaRPr sz="2300">
              <a:solidFill>
                <a:srgbClr val="F3F3F3"/>
              </a:solidFill>
              <a:latin typeface="Lora SemiBold"/>
              <a:ea typeface="Lora SemiBold"/>
              <a:cs typeface="Lora SemiBold"/>
              <a:sym typeface="Lora SemiBold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00">
              <a:solidFill>
                <a:srgbClr val="F3F3F3"/>
              </a:solidFill>
              <a:latin typeface="Lora SemiBold"/>
              <a:ea typeface="Lora SemiBold"/>
              <a:cs typeface="Lora SemiBold"/>
              <a:sym typeface="Lora SemiBold"/>
            </a:endParaRPr>
          </a:p>
        </p:txBody>
      </p:sp>
      <p:sp>
        <p:nvSpPr>
          <p:cNvPr id="141" name="Google Shape;141;p15"/>
          <p:cNvSpPr txBox="1"/>
          <p:nvPr/>
        </p:nvSpPr>
        <p:spPr>
          <a:xfrm>
            <a:off x="2648129" y="1783013"/>
            <a:ext cx="7193237" cy="396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F3F3F3"/>
                </a:solidFill>
              </a:rPr>
              <a:t>Frontend</a:t>
            </a:r>
            <a:endParaRPr b="1" dirty="0">
              <a:solidFill>
                <a:srgbClr val="F3F3F3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3F3F3"/>
              </a:buClr>
              <a:buSzPts val="1100"/>
              <a:buChar char="●"/>
            </a:pPr>
            <a:r>
              <a:rPr lang="en-US" b="1" dirty="0">
                <a:solidFill>
                  <a:srgbClr val="F3F3F3"/>
                </a:solidFill>
              </a:rPr>
              <a:t>Next.js / React</a:t>
            </a:r>
            <a:r>
              <a:rPr lang="en-US" dirty="0">
                <a:solidFill>
                  <a:srgbClr val="F3F3F3"/>
                </a:solidFill>
              </a:rPr>
              <a:t> → UI with live video + voice</a:t>
            </a:r>
            <a:endParaRPr dirty="0">
              <a:solidFill>
                <a:srgbClr val="F3F3F3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Char char="●"/>
            </a:pPr>
            <a:r>
              <a:rPr lang="en-US" b="1" dirty="0">
                <a:solidFill>
                  <a:srgbClr val="F3F3F3"/>
                </a:solidFill>
              </a:rPr>
              <a:t>WebRTC/</a:t>
            </a:r>
            <a:r>
              <a:rPr lang="en-US" b="1" dirty="0" err="1">
                <a:solidFill>
                  <a:srgbClr val="F3F3F3"/>
                </a:solidFill>
              </a:rPr>
              <a:t>WebSockets</a:t>
            </a:r>
            <a:r>
              <a:rPr lang="en-US" dirty="0">
                <a:solidFill>
                  <a:srgbClr val="F3F3F3"/>
                </a:solidFill>
              </a:rPr>
              <a:t> → live interaction</a:t>
            </a:r>
            <a:br>
              <a:rPr lang="en-US" dirty="0">
                <a:solidFill>
                  <a:srgbClr val="F3F3F3"/>
                </a:solidFill>
              </a:rPr>
            </a:br>
            <a:r>
              <a:rPr lang="en-US" dirty="0">
                <a:solidFill>
                  <a:srgbClr val="F3F3F3"/>
                </a:solidFill>
              </a:rPr>
              <a:t>stress/emotion indicators</a:t>
            </a:r>
            <a:endParaRPr dirty="0">
              <a:solidFill>
                <a:srgbClr val="F3F3F3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Char char="●"/>
            </a:pPr>
            <a:r>
              <a:rPr lang="en-US" b="1" dirty="0">
                <a:solidFill>
                  <a:srgbClr val="F3F3F3"/>
                </a:solidFill>
              </a:rPr>
              <a:t>Visualization Layer</a:t>
            </a:r>
            <a:endParaRPr dirty="0">
              <a:solidFill>
                <a:srgbClr val="F3F3F3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EFEFEF"/>
                </a:solidFill>
              </a:rPr>
              <a:t>Backend (On-board system)</a:t>
            </a:r>
            <a:endParaRPr b="1" dirty="0">
              <a:solidFill>
                <a:srgbClr val="EFEFE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EFEFEF"/>
              </a:buClr>
              <a:buSzPts val="1100"/>
              <a:buChar char="●"/>
            </a:pPr>
            <a:r>
              <a:rPr lang="en-US" b="1" dirty="0">
                <a:solidFill>
                  <a:srgbClr val="EFEFEF"/>
                </a:solidFill>
              </a:rPr>
              <a:t>Speech-to-Text</a:t>
            </a:r>
            <a:r>
              <a:rPr lang="en-US" dirty="0">
                <a:solidFill>
                  <a:srgbClr val="EFEFEF"/>
                </a:solidFill>
              </a:rPr>
              <a:t> → Whisper (offline models)</a:t>
            </a:r>
            <a:endParaRPr dirty="0">
              <a:solidFill>
                <a:srgbClr val="EFEFE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100"/>
              <a:buChar char="●"/>
            </a:pPr>
            <a:r>
              <a:rPr lang="en-US" b="1" dirty="0">
                <a:solidFill>
                  <a:srgbClr val="EFEFEF"/>
                </a:solidFill>
              </a:rPr>
              <a:t>Emotion Detection</a:t>
            </a:r>
            <a:r>
              <a:rPr lang="en-US" dirty="0">
                <a:solidFill>
                  <a:srgbClr val="EFEFEF"/>
                </a:solidFill>
              </a:rPr>
              <a:t> →</a:t>
            </a:r>
            <a:br>
              <a:rPr lang="en-US" dirty="0">
                <a:solidFill>
                  <a:srgbClr val="EFEFEF"/>
                </a:solidFill>
              </a:rPr>
            </a:br>
            <a:r>
              <a:rPr lang="en-US" dirty="0">
                <a:solidFill>
                  <a:srgbClr val="EFEFEF"/>
                </a:solidFill>
              </a:rPr>
              <a:t>Voice: tone analysis (pitch, jitter, MFCC features)</a:t>
            </a:r>
            <a:br>
              <a:rPr lang="en-US" dirty="0">
                <a:solidFill>
                  <a:srgbClr val="EFEFEF"/>
                </a:solidFill>
              </a:rPr>
            </a:br>
            <a:r>
              <a:rPr lang="en-US" dirty="0">
                <a:solidFill>
                  <a:srgbClr val="EFEFEF"/>
                </a:solidFill>
              </a:rPr>
              <a:t>Face: DEEPFACE for expression recognition</a:t>
            </a:r>
            <a:endParaRPr dirty="0">
              <a:solidFill>
                <a:srgbClr val="EFEFE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100"/>
              <a:buChar char="●"/>
            </a:pPr>
            <a:r>
              <a:rPr lang="en-US" b="1" dirty="0">
                <a:solidFill>
                  <a:srgbClr val="EFEFEF"/>
                </a:solidFill>
              </a:rPr>
              <a:t>Engine</a:t>
            </a:r>
            <a:r>
              <a:rPr lang="en-US" dirty="0">
                <a:solidFill>
                  <a:srgbClr val="EFEFEF"/>
                </a:solidFill>
              </a:rPr>
              <a:t> → small fine-tuned LLM (offline deployable, e.g., </a:t>
            </a:r>
            <a:r>
              <a:rPr lang="en-US" dirty="0" err="1">
                <a:solidFill>
                  <a:srgbClr val="EFEFEF"/>
                </a:solidFill>
              </a:rPr>
              <a:t>LLaMA</a:t>
            </a:r>
            <a:r>
              <a:rPr lang="en-US" dirty="0">
                <a:solidFill>
                  <a:srgbClr val="EFEFEF"/>
                </a:solidFill>
              </a:rPr>
              <a:t> / Phi-3-mini)</a:t>
            </a:r>
            <a:endParaRPr dirty="0">
              <a:solidFill>
                <a:srgbClr val="EFEFE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100"/>
              <a:buChar char="●"/>
            </a:pPr>
            <a:r>
              <a:rPr lang="en-US" b="1" dirty="0">
                <a:solidFill>
                  <a:srgbClr val="EFEFEF"/>
                </a:solidFill>
              </a:rPr>
              <a:t>Text-to-Speech</a:t>
            </a:r>
            <a:r>
              <a:rPr lang="en-US" dirty="0">
                <a:solidFill>
                  <a:srgbClr val="EFEFEF"/>
                </a:solidFill>
              </a:rPr>
              <a:t> → lightweight TTS models (Coqui TTS / Edge-TTS</a:t>
            </a:r>
            <a:endParaRPr dirty="0">
              <a:solidFill>
                <a:srgbClr val="EFEFE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dirty="0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6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FEASIBILITY AND VIABILITY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609600" y="2543485"/>
            <a:ext cx="9385200" cy="2677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IN" sz="2800" dirty="0"/>
              <a:t>• Multimodal emotion detection is a well-researched area</a:t>
            </a:r>
          </a:p>
          <a:p>
            <a:r>
              <a:rPr lang="en-IN" sz="2800" dirty="0"/>
              <a:t>• Lightweight open-source STT/TTS models exist</a:t>
            </a:r>
          </a:p>
          <a:p>
            <a:r>
              <a:rPr lang="en-IN" sz="2800" dirty="0"/>
              <a:t>• Runs offline without cloud dependency</a:t>
            </a:r>
          </a:p>
          <a:p>
            <a:r>
              <a:rPr lang="en-IN" sz="2800" dirty="0"/>
              <a:t>• Suitable for long-duration space missions</a:t>
            </a:r>
          </a:p>
          <a:p>
            <a:r>
              <a:rPr lang="en-IN" sz="2800" dirty="0"/>
              <a:t>• Scalable to other isolated environments (submarines, polar bases)</a:t>
            </a:r>
          </a:p>
        </p:txBody>
      </p:sp>
      <p:sp>
        <p:nvSpPr>
          <p:cNvPr id="150" name="Google Shape;150;p1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4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1" name="Google Shape;151;p16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700" b="1">
                <a:solidFill>
                  <a:srgbClr val="434343"/>
                </a:solidFill>
                <a:latin typeface="Lora"/>
                <a:ea typeface="Lora"/>
                <a:cs typeface="Lora"/>
                <a:sym typeface="Lora"/>
              </a:rPr>
              <a:t>Space Hack</a:t>
            </a:r>
            <a:endParaRPr sz="18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152" name="Google Shape;152;p16" descr="https://www.sih.gov.in/img1/SIH-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41366" y="57097"/>
            <a:ext cx="2209120" cy="11228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/>
          </a:p>
        </p:txBody>
      </p:sp>
      <p:sp>
        <p:nvSpPr>
          <p:cNvPr id="161" name="Google Shape;161;p1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5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2" name="Google Shape;162;p17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700" b="1">
                <a:solidFill>
                  <a:srgbClr val="434343"/>
                </a:solidFill>
                <a:latin typeface="Lora"/>
                <a:ea typeface="Lora"/>
                <a:cs typeface="Lora"/>
                <a:sym typeface="Lora"/>
              </a:rPr>
              <a:t>Space Hack</a:t>
            </a:r>
            <a:endParaRPr sz="18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163" name="Google Shape;163;p17" descr="https://www.sih.gov.in/img1/SIH-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41366" y="57097"/>
            <a:ext cx="2209120" cy="112286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58F4E92-4C28-77A2-9E31-F0CA59E09E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9228" y="3747959"/>
            <a:ext cx="4804216" cy="2522213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40EE964-27E8-11E8-2AF6-C3C82FCFA7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773" y="3595287"/>
            <a:ext cx="4804216" cy="2489184"/>
          </a:xfrm>
          <a:prstGeom prst="rect">
            <a:avLst/>
          </a:prstGeom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BF66558-FF1D-FD8D-9138-4F86CE1E61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772" y="968155"/>
            <a:ext cx="4804215" cy="251921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A44DC89-7646-6763-DAD4-92345CFC0FCE}"/>
              </a:ext>
            </a:extLst>
          </p:cNvPr>
          <p:cNvSpPr txBox="1"/>
          <p:nvPr/>
        </p:nvSpPr>
        <p:spPr>
          <a:xfrm>
            <a:off x="5197964" y="838504"/>
            <a:ext cx="6106229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/>
              <a:t>🔹 Psychological Benefits</a:t>
            </a:r>
          </a:p>
          <a:p>
            <a:r>
              <a:rPr lang="en-US" sz="1000" b="1" dirty="0"/>
              <a:t>Provides continuous emotional support during isolation. Reduces stress, anxiety, and sleep-related issues.</a:t>
            </a:r>
          </a:p>
          <a:p>
            <a:r>
              <a:rPr lang="en-US" sz="1000" b="1" dirty="0"/>
              <a:t>Acts as a non-judgmental companion for astronauts to express concerns.</a:t>
            </a:r>
          </a:p>
          <a:p>
            <a:r>
              <a:rPr lang="en-US" sz="1000" b="1" dirty="0"/>
              <a:t>Encourages mental resilience through adaptive conversations.</a:t>
            </a:r>
          </a:p>
          <a:p>
            <a:r>
              <a:rPr lang="en-US" sz="1000" b="1" dirty="0"/>
              <a:t>🔹 Operational Benefits</a:t>
            </a:r>
          </a:p>
          <a:p>
            <a:r>
              <a:rPr lang="en-US" sz="1000" b="1" dirty="0"/>
              <a:t>Detects early signs of mental fatigue or burnout, reducing mission errors. Helps maintain crew morale and focus during long-duration missions. Enables real-time reporting of psychological red flags to mission control. Reduces dependency on Earth-based counseling when communication delays exist.</a:t>
            </a:r>
          </a:p>
          <a:p>
            <a:r>
              <a:rPr lang="en-US" sz="1000" b="1" dirty="0"/>
              <a:t>🔹 Technological Benefits Runs completely offline, ensuring reliability in low-connectivity environments. Multimodal design (speech + vision) makes detection more accurate. Modular architecture → scalable to other domains (submarines, defense, healthcare).Integrates AI-driven counseling with evidence-based psychological practices.</a:t>
            </a:r>
          </a:p>
          <a:p>
            <a:r>
              <a:rPr lang="en-US" sz="1000" b="1" dirty="0"/>
              <a:t>🔹 Societal &amp; Wider Benefits Technology spin-offs can help mental health monitoring on Earth (students, elderly, isolated workers).Potential use in extreme environments: Antarctica, submarines, deep-sea exploration. Supports India’s vision for indigenous space tech under Bhartiya Antariksh Station (BAS).Contributes to astronaut safety, mission success, and long-term habitability in space.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8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RESEARCH  AND REFERENCES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329775" y="2488850"/>
            <a:ext cx="10446300" cy="203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2794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u="sng" dirty="0">
                <a:solidFill>
                  <a:schemeClr val="hlink"/>
                </a:solidFill>
                <a:hlinkClick r:id="rId3"/>
              </a:rPr>
              <a:t>Automated Psychotherapy in a Spaceflight Environment: Advantages, Drawbacks, and Unknowns pmc.ncbi.nlm.nih.gov</a:t>
            </a:r>
            <a:endParaRPr lang="en-US" sz="1800" u="sng" dirty="0">
              <a:solidFill>
                <a:schemeClr val="hlink"/>
              </a:solidFill>
            </a:endParaRPr>
          </a:p>
          <a:p>
            <a:pPr marL="342900" lvl="0" indent="-279400" algn="just">
              <a:buSzPts val="1800"/>
              <a:buFont typeface="Arial"/>
              <a:buChar char="•"/>
            </a:pPr>
            <a:r>
              <a:rPr lang="en-IN" sz="1800" dirty="0">
                <a:hlinkClick r:id="rId4"/>
              </a:rPr>
              <a:t>https://ieeexplore.ieee.org/document/10397747/</a:t>
            </a:r>
            <a:endParaRPr lang="en-IN" sz="1800" dirty="0"/>
          </a:p>
          <a:p>
            <a:pPr marL="342900" lvl="0" indent="-279400" algn="just">
              <a:buSzPts val="1800"/>
              <a:buFont typeface="Arial"/>
              <a:buChar char="•"/>
            </a:pPr>
            <a:r>
              <a:rPr lang="en-IN" sz="1800" dirty="0">
                <a:hlinkClick r:id="rId5"/>
              </a:rPr>
              <a:t>https://ntrs.nasa.gov/api/citations/20000021488/downloads/20000021488.pdf</a:t>
            </a:r>
            <a:endParaRPr lang="en-IN" sz="1800" dirty="0"/>
          </a:p>
          <a:p>
            <a:pPr marL="342900" lvl="0" indent="-279400" algn="just">
              <a:buSzPts val="1800"/>
              <a:buFont typeface="Arial"/>
              <a:buChar char="•"/>
            </a:pPr>
            <a:r>
              <a:rPr lang="en-IN" sz="1800" dirty="0">
                <a:hlinkClick r:id="rId6"/>
              </a:rPr>
              <a:t>https://www.dlr.de/en/latest/news/2025/alone-in-space-study-investigates-the-effects-of-isolation</a:t>
            </a:r>
            <a:endParaRPr lang="en-IN" sz="1800" dirty="0"/>
          </a:p>
          <a:p>
            <a:pPr marL="342900" lvl="0" indent="-279400" algn="just">
              <a:buSzPts val="1800"/>
              <a:buFont typeface="Arial"/>
              <a:buChar char="•"/>
            </a:pPr>
            <a:r>
              <a:rPr lang="en-IN" sz="1800" dirty="0">
                <a:hlinkClick r:id="rId7"/>
              </a:rPr>
              <a:t>https://www.nasa.gov/missions/station/iss-research/mental-well-being-in-space/</a:t>
            </a:r>
            <a:endParaRPr lang="en-IN" sz="1800" dirty="0"/>
          </a:p>
          <a:p>
            <a:pPr marL="342900" lvl="0" indent="-279400" algn="just">
              <a:buSzPts val="1800"/>
              <a:buFont typeface="Arial"/>
              <a:buChar char="•"/>
            </a:pP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6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73" name="Google Shape;173;p18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700" b="1">
                <a:solidFill>
                  <a:srgbClr val="434343"/>
                </a:solidFill>
                <a:latin typeface="Lora"/>
                <a:ea typeface="Lora"/>
                <a:cs typeface="Lora"/>
                <a:sym typeface="Lora"/>
              </a:rPr>
              <a:t>Space Hack</a:t>
            </a:r>
            <a:endParaRPr sz="18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174" name="Google Shape;174;p18" descr="https://www.sih.gov.in/img1/SIH-Logo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841366" y="57097"/>
            <a:ext cx="2209120" cy="11228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F8973C978EA1D4B9E447FC203222D10" ma:contentTypeVersion="15" ma:contentTypeDescription="Create a new document." ma:contentTypeScope="" ma:versionID="bc331628d2ca97aa3ce3a96d456233d9">
  <xsd:schema xmlns:xsd="http://www.w3.org/2001/XMLSchema" xmlns:xs="http://www.w3.org/2001/XMLSchema" xmlns:p="http://schemas.microsoft.com/office/2006/metadata/properties" xmlns:ns3="b4e35b7a-b75e-4a07-8c59-078593344b3d" xmlns:ns4="ebe5c913-aad7-40e3-8f6d-b2edd9a2b1b1" targetNamespace="http://schemas.microsoft.com/office/2006/metadata/properties" ma:root="true" ma:fieldsID="ad7b40c9f46bbf4de616f8c8bb0b714c" ns3:_="" ns4:_="">
    <xsd:import namespace="b4e35b7a-b75e-4a07-8c59-078593344b3d"/>
    <xsd:import namespace="ebe5c913-aad7-40e3-8f6d-b2edd9a2b1b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Location" minOccurs="0"/>
                <xsd:element ref="ns3:MediaLengthInSecond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e35b7a-b75e-4a07-8c59-078593344b3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e5c913-aad7-40e3-8f6d-b2edd9a2b1b1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4e35b7a-b75e-4a07-8c59-078593344b3d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D224F35-4F29-4A75-848B-6BD4A36B872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4e35b7a-b75e-4a07-8c59-078593344b3d"/>
    <ds:schemaRef ds:uri="ebe5c913-aad7-40e3-8f6d-b2edd9a2b1b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EED6CFE-4162-4A38-8C5A-B5E5596D782A}">
  <ds:schemaRefs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b4e35b7a-b75e-4a07-8c59-078593344b3d"/>
    <ds:schemaRef ds:uri="http://purl.org/dc/dcmitype/"/>
    <ds:schemaRef ds:uri="ebe5c913-aad7-40e3-8f6d-b2edd9a2b1b1"/>
    <ds:schemaRef ds:uri="http://www.w3.org/XML/1998/namespace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A436D608-0788-4F60-B626-A4875392DDB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281</TotalTime>
  <Words>684</Words>
  <Application>Microsoft Office PowerPoint</Application>
  <PresentationFormat>Widescreen</PresentationFormat>
  <Paragraphs>83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Calibri</vt:lpstr>
      <vt:lpstr>Lora</vt:lpstr>
      <vt:lpstr>Garamond</vt:lpstr>
      <vt:lpstr>Arial</vt:lpstr>
      <vt:lpstr>Oswald</vt:lpstr>
      <vt:lpstr>Roboto</vt:lpstr>
      <vt:lpstr>Noto Sans Symbols</vt:lpstr>
      <vt:lpstr>Lora SemiBold</vt:lpstr>
      <vt:lpstr>Times New Roman</vt:lpstr>
      <vt:lpstr>Office Theme</vt:lpstr>
      <vt:lpstr>SMART INDIA HACKATHON 2025</vt:lpstr>
      <vt:lpstr>MAITRI : AI for Astronauts                 </vt:lpstr>
      <vt:lpstr>TECHNICAL APPROACH</vt:lpstr>
      <vt:lpstr>FEASIBILITY AND VIABILITY</vt:lpstr>
      <vt:lpstr>IMPACT AND BENEFITS</vt:lpstr>
      <vt:lpstr>RESEARCH 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Utkarsh Tiwari</dc:creator>
  <cp:lastModifiedBy>nipun arora</cp:lastModifiedBy>
  <cp:revision>3</cp:revision>
  <dcterms:modified xsi:type="dcterms:W3CDTF">2025-09-22T09:42:08Z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0x0101007F8973C978EA1D4B9E447FC203222D10</vt:lpwstr>
  </property>
</Properties>
</file>